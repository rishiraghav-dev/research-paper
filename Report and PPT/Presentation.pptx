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5" r:id="rId6"/>
    <p:sldId id="276" r:id="rId7"/>
    <p:sldId id="280" r:id="rId8"/>
    <p:sldId id="277" r:id="rId9"/>
    <p:sldId id="278" r:id="rId10"/>
    <p:sldId id="279" r:id="rId11"/>
    <p:sldId id="270" r:id="rId12"/>
    <p:sldId id="271" r:id="rId13"/>
    <p:sldId id="272" r:id="rId14"/>
    <p:sldId id="273" r:id="rId15"/>
    <p:sldId id="274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837E0-23A3-6AB2-FF6E-5E2D77DB6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Multi-Modal AI-Based Health Intelligence Framework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Integrated Disease Risk Assessment and Lifestyle Analysis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Rishi Raghav Singh (2210992162)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Rohan Singh (2210992176)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Rajat Takkar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 Institute of Engineering and Technology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8F26-71E4-8318-BF0D-F7F01B2D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285" y="0"/>
            <a:ext cx="2684834" cy="9140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EE76-30F0-B8CB-E69B-EAB126B32E0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225685"/>
            <a:ext cx="8229600" cy="49708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cause over 30% of global deaths (WHO, 2023).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Multi-Modal AI-Based Health Intelligence Framework for early disease risk detection.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includes: Disease Risk Assessment (DRA) and Lifestyle Analysis.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 LR, SVM and Random Forest.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factors analysed: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MI, sleep, diet, stress and physical activity.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a Streamlit web application with SHAP-based explanations.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results: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91.8% , AUC-ROC: 0.956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provides fast, real-time, and cloud-deployable predictions.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response time below 60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Cloud-deployable and suitable for primary healthcare screening systems.</a:t>
            </a:r>
            <a:endParaRPr lang="en-US" sz="1800" dirty="0"/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784CD6D-0B80-CD6A-0314-AB6FC5B1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LR, SVM, and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9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FD78-D368-8BE0-3943-A96E831A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332" y="0"/>
            <a:ext cx="4572000" cy="9140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21949-EB01-952B-D53D-8BC5491FF7FF}"/>
              </a:ext>
            </a:extLst>
          </p:cNvPr>
          <p:cNvSpPr txBox="1"/>
          <p:nvPr/>
        </p:nvSpPr>
        <p:spPr>
          <a:xfrm>
            <a:off x="603115" y="1157591"/>
            <a:ext cx="7743217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Clinical Significance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97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8001-90BA-2901-E99E-C29CF8D7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920" y="0"/>
            <a:ext cx="4317640" cy="9140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875B-AFD6-3CAB-4EC7-1A88CCDEEE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188720"/>
            <a:ext cx="8331200" cy="506984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Non-communicable diseases (NCDs)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for 74% of global deaths.</a:t>
            </a:r>
          </a:p>
          <a:p>
            <a:pPr marL="342900" indent="-342900" algn="just">
              <a:lnSpc>
                <a:spcPct val="150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ardiovascular diseases cause nearly 17.9 million deaths annually (WHO, 2023). 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healthcare systems are mostly single-modal </a:t>
            </a:r>
          </a:p>
          <a:p>
            <a:pPr lvl="1" indent="-342900" algn="just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Focus only 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biomarkers or lifestyle factors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.</a:t>
            </a:r>
          </a:p>
          <a:p>
            <a:pPr lvl="1" indent="-342900" algn="just">
              <a:lnSpc>
                <a:spcPct val="150000"/>
              </a:lnSpc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provide complete health risk analysis.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lifestyle-related health issues have increased the need for early disease prediction systems.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can significantly reduce: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Mortality rates, hospitalization costs and long-term health complications.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Single-modal systems may overlook hidden risks like: Poor sleep habits, stress, lack of physical activity and Unhealthy diet.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44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27A6-0FDC-E78E-8CFF-17C7CDB9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961" y="0"/>
            <a:ext cx="5165387" cy="9140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31D77-55CD-FAB0-3D08-B649C30D3FCC}"/>
              </a:ext>
            </a:extLst>
          </p:cNvPr>
          <p:cNvSpPr txBox="1"/>
          <p:nvPr/>
        </p:nvSpPr>
        <p:spPr>
          <a:xfrm>
            <a:off x="428017" y="1177047"/>
            <a:ext cx="8336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Non-communicable diseases (NCDs), especially cardiovascular diseases, are a major global health concern.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healthcare screening tools are: Expensive, specialist-dependent and difficult to access in primary health settings.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AI healthcare systems are single-modal analyze only clinical data or lifestyle factors.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AI healthcare systems are single-modal fail to provide a complete health risk profile.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systems combining medical biomarkers and behavioral and lifestyle analysis.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fast, affordable, and explainable AI-based health assessment framework.</a:t>
            </a:r>
          </a:p>
        </p:txBody>
      </p:sp>
    </p:spTree>
    <p:extLst>
      <p:ext uri="{BB962C8B-B14F-4D97-AF65-F5344CB8AC3E}">
        <p14:creationId xmlns:p14="http://schemas.microsoft.com/office/powerpoint/2010/main" val="38321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22DB-11C9-D11F-2589-E1A7C16A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795" y="0"/>
            <a:ext cx="4153711" cy="914040"/>
          </a:xfrm>
        </p:spPr>
        <p:txBody>
          <a:bodyPr/>
          <a:lstStyle/>
          <a:p>
            <a:r>
              <a:rPr lang="en-US" dirty="0">
                <a:latin typeface="Times New Roman (Headings)"/>
              </a:rPr>
              <a:t>Technical Details</a:t>
            </a:r>
            <a:endParaRPr lang="en-IN" dirty="0">
              <a:latin typeface="Times New Roman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FA2C2-E024-C7F7-58D9-999A2E4C4CC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225685"/>
            <a:ext cx="8287966" cy="4805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Cleveland Heart Disease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303 patient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clinical features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(LR)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(RF)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6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6AD8-3092-829A-2642-0E6F2A16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162" y="0"/>
            <a:ext cx="3852153" cy="9140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14B7A-BB3F-10B3-6250-04658285411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47472" y="739302"/>
            <a:ext cx="8249055" cy="53793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AI health assessment system.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clinical and lifestyle analysis.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disease risk prediction.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Risk Index (LRI) generation.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explainable AI predictions.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Streamlit web interface.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and cloud deployable.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preventive healthcare and primary care use.</a:t>
            </a:r>
          </a:p>
        </p:txBody>
      </p:sp>
    </p:spTree>
    <p:extLst>
      <p:ext uri="{BB962C8B-B14F-4D97-AF65-F5344CB8AC3E}">
        <p14:creationId xmlns:p14="http://schemas.microsoft.com/office/powerpoint/2010/main" val="308851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A54-6A04-4B11-9878-233D948E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686440" cy="914040"/>
          </a:xfrm>
        </p:spPr>
        <p:txBody>
          <a:bodyPr/>
          <a:lstStyle/>
          <a:p>
            <a:r>
              <a:rPr lang="en-US" sz="3000" dirty="0"/>
              <a:t>  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Implementation</a:t>
            </a:r>
            <a:endParaRPr lang="en-IN" sz="30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862CFD8-2FA9-4714-86F1-7B6121F44071}"/>
              </a:ext>
            </a:extLst>
          </p:cNvPr>
          <p:cNvSpPr/>
          <p:nvPr/>
        </p:nvSpPr>
        <p:spPr>
          <a:xfrm>
            <a:off x="91080" y="914040"/>
            <a:ext cx="8595360" cy="1256136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 — Data Sources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Cleveland Dataset (303 patients)  |  NHANES Lifestyle Reference Distributions  |  Live User Inputs</a:t>
            </a:r>
            <a:endParaRPr lang="en-US" sz="1800" dirty="0"/>
          </a:p>
          <a:p>
            <a:pPr algn="just"/>
            <a:r>
              <a:rPr lang="en-IN" dirty="0"/>
              <a:t> 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CA8742AE-11E8-4503-9CF5-C5F87B695728}"/>
              </a:ext>
            </a:extLst>
          </p:cNvPr>
          <p:cNvSpPr/>
          <p:nvPr/>
        </p:nvSpPr>
        <p:spPr>
          <a:xfrm>
            <a:off x="91080" y="2297832"/>
            <a:ext cx="8595360" cy="1131168"/>
          </a:xfrm>
          <a:prstGeom prst="rect">
            <a:avLst/>
          </a:prstGeom>
          <a:solidFill>
            <a:srgbClr val="B03020"/>
          </a:solidFill>
          <a:ln w="12700">
            <a:solidFill>
              <a:srgbClr val="B0302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 — Preprocessing &amp; Models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Imputation → One-Hot Encoding →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SMOTE  |  Serialized RF / SVM-RBF / LR  (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joblib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gzip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800" dirty="0"/>
          </a:p>
          <a:p>
            <a:pPr algn="just"/>
            <a:endParaRPr lang="en-IN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A40CA2FC-A510-4387-950B-51BC50864912}"/>
              </a:ext>
            </a:extLst>
          </p:cNvPr>
          <p:cNvSpPr/>
          <p:nvPr/>
        </p:nvSpPr>
        <p:spPr>
          <a:xfrm>
            <a:off x="91080" y="3556656"/>
            <a:ext cx="8595360" cy="1027536"/>
          </a:xfrm>
          <a:prstGeom prst="rect">
            <a:avLst/>
          </a:prstGeom>
          <a:solidFill>
            <a:srgbClr val="1A6040"/>
          </a:solidFill>
          <a:ln w="12700">
            <a:solidFill>
              <a:srgbClr val="1A6040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3 — Inference Engine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DRA: </a:t>
            </a:r>
            <a:r>
              <a:rPr lang="en-US" sz="1800" dirty="0" err="1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pipeline.pkl</a:t>
            </a:r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Classifier → P(y) + SHAP + CI  |  LSA: LRI Computation → Risk Tier + Recommendations</a:t>
            </a:r>
            <a:endParaRPr lang="en-US" sz="1800" dirty="0"/>
          </a:p>
          <a:p>
            <a:pPr algn="just"/>
            <a:endParaRPr lang="en-IN" dirty="0"/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ACCBBB36-66B1-455F-AFFE-88D23FFDA0F8}"/>
              </a:ext>
            </a:extLst>
          </p:cNvPr>
          <p:cNvSpPr/>
          <p:nvPr/>
        </p:nvSpPr>
        <p:spPr>
          <a:xfrm>
            <a:off x="45540" y="4711848"/>
            <a:ext cx="8595360" cy="1027536"/>
          </a:xfrm>
          <a:prstGeom prst="rect">
            <a:avLst/>
          </a:prstGeom>
          <a:solidFill>
            <a:srgbClr val="5B2C8A"/>
          </a:solidFill>
          <a:ln w="12700">
            <a:solidFill>
              <a:srgbClr val="5B2C8A"/>
            </a:solidFill>
            <a:prstDash val="solid"/>
          </a:ln>
        </p:spPr>
        <p:txBody>
          <a:bodyPr/>
          <a:lstStyle/>
          <a:p>
            <a:pPr algn="just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4 — Presentation</a:t>
            </a:r>
            <a:endParaRPr lang="en-US" sz="1200" dirty="0"/>
          </a:p>
          <a:p>
            <a:pPr algn="just"/>
            <a:endParaRPr lang="en-IN" dirty="0"/>
          </a:p>
          <a:p>
            <a:pPr algn="just"/>
            <a:r>
              <a:rPr lang="en-US" sz="1800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  |  CHRS = 0.65·P_DRA + 0.35·LRI  |  Green/Yellow/Orange/Red  |  Downloadable Report</a:t>
            </a:r>
            <a:endParaRPr lang="en-US" sz="1800" dirty="0"/>
          </a:p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 Input  →  Streamlit UI  →  Module Router  →  DRA (Clinical Pipeline)  →  LSA (LRI)  →  Integrated CHRS Dashboard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39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C6C8-BFF2-4FBD-9DE6-4C88F8C1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10" y="0"/>
            <a:ext cx="5947370" cy="914040"/>
          </a:xfrm>
        </p:spPr>
        <p:txBody>
          <a:bodyPr/>
          <a:lstStyle/>
          <a:p>
            <a:r>
              <a:rPr lang="en-US" sz="3600" dirty="0"/>
              <a:t>         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188C1-FCDC-4F22-9A2D-C00799D37839}"/>
              </a:ext>
            </a:extLst>
          </p:cNvPr>
          <p:cNvSpPr txBox="1"/>
          <p:nvPr/>
        </p:nvSpPr>
        <p:spPr>
          <a:xfrm>
            <a:off x="179110" y="914040"/>
            <a:ext cx="846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 Module — 5-Fold Stratified CV Performance</a:t>
            </a:r>
            <a:endParaRPr lang="en-US" sz="1800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62A4D18-1498-4D80-ADC5-F3A947598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37360"/>
              </p:ext>
            </p:extLst>
          </p:nvPr>
        </p:nvGraphicFramePr>
        <p:xfrm>
          <a:off x="179110" y="1375705"/>
          <a:ext cx="8586940" cy="2595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46735">
                  <a:extLst>
                    <a:ext uri="{9D8B030D-6E8A-4147-A177-3AD203B41FA5}">
                      <a16:colId xmlns:a16="http://schemas.microsoft.com/office/drawing/2014/main" val="3804117605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2110787477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3893565560"/>
                    </a:ext>
                  </a:extLst>
                </a:gridCol>
                <a:gridCol w="2146735">
                  <a:extLst>
                    <a:ext uri="{9D8B030D-6E8A-4147-A177-3AD203B41FA5}">
                      <a16:colId xmlns:a16="http://schemas.microsoft.com/office/drawing/2014/main" val="15151480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(RBF Kernel)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9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84.5 ± 2.1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88.3 ± 1.8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91.8 ± 1.4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8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83.7 ± 2.4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87.9 ± 2.0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91.2 ± 1.6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8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86.2 ± 2.8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89.1 ± 2.3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92.4 ± 1.9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8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 (%)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84.9 ± 1.9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 ± 1.7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91.8 ± 1.5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8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AUC-ROC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47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MCC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0.689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4138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84F428-C132-4108-92B9-262B2D0862F8}"/>
              </a:ext>
            </a:extLst>
          </p:cNvPr>
          <p:cNvSpPr txBox="1"/>
          <p:nvPr/>
        </p:nvSpPr>
        <p:spPr>
          <a:xfrm>
            <a:off x="179110" y="4352544"/>
            <a:ext cx="8785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is the top performer across all metrics; 93.1% sensitivity and 90.6% specificity at threshold t = 0.48.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DRA features: Max Heart Rate (0.142), Chest Pain Type (0.138), Vessel Count (0.131), ST Depression (0.124).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LSA calibration: Spearman ρ = 0.71 vs. 5-year NHANES CVD event rates; Bland-Altman bias = −0.03.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CHRS vs physician ratings: Cohen's κ = 0.74 (substantial agreement) on 50 de-identified partner records.</a:t>
            </a: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75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4AEC-34FF-472B-A355-95021233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120384" cy="914040"/>
          </a:xfrm>
        </p:spPr>
        <p:txBody>
          <a:bodyPr/>
          <a:lstStyle/>
          <a:p>
            <a:r>
              <a:rPr lang="en-US" sz="3000" dirty="0"/>
              <a:t>    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&amp; Clinical Significance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68AF4-1199-4906-91D9-6480F8EEDE7F}"/>
              </a:ext>
            </a:extLst>
          </p:cNvPr>
          <p:cNvSpPr txBox="1"/>
          <p:nvPr/>
        </p:nvSpPr>
        <p:spPr>
          <a:xfrm>
            <a:off x="249936" y="914040"/>
            <a:ext cx="8644128" cy="558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Multi-modal advantage: A patient with borderline DRA probability (0.45) but high LRI (0.72) yields CHRS = 0.55 — flagging needed behavioral intervention that a biomarker-only system would miss entirely.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alignment: Three highest-ranked SHAP features (max HR, chest pain type, vessel count) match established coronary disease predictors, validating the model beyond training data.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Explainability: SHAP addresses the 'black-box' barrier and aligns with FDA guidance on AI-based medical software.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Cleveland dataset: 303 patients, single institution, 1989 — generalizability to modern and diverse populations is unconfirmed.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Lifestyle inputs are self-reported — subject to recall and social-desirability bias.</a:t>
            </a:r>
            <a:endParaRPr lang="en-US" sz="1600" dirty="0"/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CHRS validation on 50 records is pilot evidence only — insufficient for regulatory or widespread clinical deployment.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system is a decision-support tool — it is designed to complement, not replace, physician judgment.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022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3A48-D170-43FB-887F-5A4007A7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40" y="0"/>
            <a:ext cx="6339840" cy="914040"/>
          </a:xfrm>
        </p:spPr>
        <p:txBody>
          <a:bodyPr/>
          <a:lstStyle/>
          <a:p>
            <a:r>
              <a:rPr lang="en-US" sz="3000" dirty="0"/>
              <a:t>           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4B41BB-178D-7D6E-EB37-DF13384C3149}"/>
              </a:ext>
            </a:extLst>
          </p:cNvPr>
          <p:cNvSpPr txBox="1"/>
          <p:nvPr/>
        </p:nvSpPr>
        <p:spPr>
          <a:xfrm>
            <a:off x="365760" y="1107440"/>
            <a:ext cx="8442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wearable devices and IoT sensors.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additional diseases like Diabetes, hypertension and obesity.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larger and real-time healthcare datasets.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deployment.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healthcare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Electronic Health Records (EHR).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for wider accessibility.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deep learning and multimodal AI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Generative AI and chatbot support for personalized health guidance and patient interaction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61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24C9-B52A-45FC-A49B-EF559CC2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60" y="0"/>
            <a:ext cx="5486040" cy="914040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      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F7BE4-918F-49EE-8175-DE91816ECDA7}"/>
              </a:ext>
            </a:extLst>
          </p:cNvPr>
          <p:cNvSpPr txBox="1"/>
          <p:nvPr/>
        </p:nvSpPr>
        <p:spPr>
          <a:xfrm>
            <a:off x="256032" y="1011936"/>
            <a:ext cx="8522208" cy="5028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a Multi-Modal AI Health Intelligence Framework combining DRA (clinical biomarkers) and LSA (behavioral inputs) into a single clinical decision-support system.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91.8% accuracy, AUC-ROC = 0.956, MCC = 0.836 — best reported on the Cleveland dataset.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LSA: Spearman ρ = 0.71 against NHANES event rates; CHRS agreement with physicians: Cohen's κ = 0.74.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Production-grade: &lt; 60 ms inference, Streamlit deployment, SHAP explainability, classifier switching, exportable reports.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impactful in primary care settings — rapid, integrated risk screening at the point of care.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 augments clinical judgment, not replaces it — consistent with FDA guidelines on AI-based medical software.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8794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34877</TotalTime>
  <Words>1157</Words>
  <Application>Microsoft Office PowerPoint</Application>
  <PresentationFormat>On-screen Show (4:3)</PresentationFormat>
  <Paragraphs>189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Times New Roman (Headings)</vt:lpstr>
      <vt:lpstr>Office Theme</vt:lpstr>
      <vt:lpstr>PowerPoint Presentation</vt:lpstr>
      <vt:lpstr>Abstract</vt:lpstr>
      <vt:lpstr>Table of Contents</vt:lpstr>
      <vt:lpstr>Introduction</vt:lpstr>
      <vt:lpstr>Problem Statement</vt:lpstr>
      <vt:lpstr>Technical Details</vt:lpstr>
      <vt:lpstr>Key Features</vt:lpstr>
      <vt:lpstr>  System Architecture &amp; Implementation</vt:lpstr>
      <vt:lpstr>         Experimental Results</vt:lpstr>
      <vt:lpstr>    Discussion &amp; Clinical Significance</vt:lpstr>
      <vt:lpstr>           Future Scope</vt:lpstr>
      <vt:lpstr>               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Rohan Singh</cp:lastModifiedBy>
  <cp:revision>2308</cp:revision>
  <dcterms:created xsi:type="dcterms:W3CDTF">2010-04-09T07:36:15Z</dcterms:created>
  <dcterms:modified xsi:type="dcterms:W3CDTF">2026-05-15T10:06:02Z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