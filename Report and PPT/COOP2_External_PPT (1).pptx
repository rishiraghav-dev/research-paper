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Multi-Modal AI-Based Health Intelligence Framework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 Integrated Disease Risk Assessment and Lifestyle Analysis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Rishi Raghav Singh (2210992162)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Rohan Singh (2210992176)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Rajat </a:t>
            </a:r>
            <a:r>
              <a:rPr lang="en-US" sz="20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20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University Institute of Engineering and Technology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 err="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Non-communicable diseases (NCDs) cause 74% of all global deaths; cardiovascular disease kills ~17.9 million annually (WHO, 2023).</a:t>
            </a:r>
            <a:endParaRPr lang="en-US" sz="170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existing AI health tools are single-modal — they assess either clinical biomarkers OR lifestyle factors, not both.</a:t>
            </a:r>
            <a:endParaRPr lang="en-US" sz="170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leads to incomplete risk profiles. A patient with borderline cholesterol but poor sleep and no exercise is structurally invisible to single-modal systems.</a:t>
            </a:r>
            <a:endParaRPr lang="en-US" sz="170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propose a Multi-Modal AI Health Intelligence Framework with two integrated modules:</a:t>
            </a:r>
            <a:endParaRPr lang="en-US" sz="1700" dirty="0"/>
          </a:p>
          <a:p>
            <a:pPr marL="685800" lvl="1" indent="-342900" algn="just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Risk Assessment (DRA): ML classifiers on Cleveland Heart Disease dataset (303 patients, 13 features).</a:t>
            </a:r>
            <a:endParaRPr lang="en-US" sz="1700" dirty="0"/>
          </a:p>
          <a:p>
            <a:pPr marL="685800" lvl="1" indent="-342900" algn="just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Lifestyle Analysis (LSA): Computes a Lifestyle Risk Index (LRI) from 5 behavioral self-report inputs.</a:t>
            </a:r>
            <a:endParaRPr lang="en-US" sz="1700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modules are delivered through a </a:t>
            </a:r>
            <a:r>
              <a:rPr lang="en-US" sz="17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web app with SHAP </a:t>
            </a:r>
            <a:r>
              <a:rPr lang="en-US" sz="17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&lt; 60 </a:t>
            </a:r>
            <a:r>
              <a:rPr lang="en-US" sz="17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response, and cloud-native design.</a:t>
            </a: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5189-FABA-4E22-AFDA-ECB6639B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F66EA05-1698-4D4D-B5D4-ABC026BA47D6}"/>
              </a:ext>
            </a:extLst>
          </p:cNvPr>
          <p:cNvSpPr/>
          <p:nvPr/>
        </p:nvSpPr>
        <p:spPr>
          <a:xfrm>
            <a:off x="502920" y="914040"/>
            <a:ext cx="4069080" cy="5617464"/>
          </a:xfrm>
          <a:prstGeom prst="rect">
            <a:avLst/>
          </a:prstGeom>
          <a:solidFill>
            <a:srgbClr val="FEF6F6"/>
          </a:solidFill>
          <a:ln w="12700">
            <a:solidFill>
              <a:srgbClr val="FFBBBB"/>
            </a:solidFill>
            <a:prstDash val="solid"/>
          </a:ln>
        </p:spPr>
        <p:txBody>
          <a:bodyPr/>
          <a:lstStyle/>
          <a:p>
            <a:pPr marL="342900" indent="-342900">
              <a:buSzPct val="100000"/>
              <a:buFontTx/>
              <a:buChar char="•"/>
            </a:pPr>
            <a:r>
              <a:rPr lang="en-US" sz="1800" b="1" dirty="0">
                <a:solidFill>
                  <a:srgbClr val="E125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Risk Assessment (DRA)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>
              <a:solidFill>
                <a:srgbClr val="222222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800" dirty="0">
              <a:solidFill>
                <a:srgbClr val="222222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Cleveland Heart Disease (303 patients, 13 features, binary label)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Imputation: Modal value within class label for ca &amp; </a:t>
            </a: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Encoding: One-hot (13 → 19 dims); Scaling: </a:t>
            </a: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StandardScaler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(zero mean, unit variance)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SMOTE: Applied on training folds only to avoid validation leakage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Classifiers: LR (λ=0.1), SVM-RBF (C=1.0, γ=0.1), RF (B=200 trees)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5-fold stratified CV, nested 3-fold hyperparameter search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SHAP + 95% CI via 200 bootstrap samples</a:t>
            </a:r>
            <a:endParaRPr lang="en-US" sz="1800" dirty="0"/>
          </a:p>
          <a:p>
            <a:endParaRPr lang="en-IN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B5F28F29-9958-41D1-B506-827D1328D45C}"/>
              </a:ext>
            </a:extLst>
          </p:cNvPr>
          <p:cNvSpPr/>
          <p:nvPr/>
        </p:nvSpPr>
        <p:spPr>
          <a:xfrm>
            <a:off x="4572000" y="914040"/>
            <a:ext cx="4343400" cy="5617464"/>
          </a:xfrm>
          <a:prstGeom prst="rect">
            <a:avLst/>
          </a:prstGeom>
          <a:solidFill>
            <a:srgbClr val="F6F6FE"/>
          </a:solidFill>
          <a:ln w="12700">
            <a:solidFill>
              <a:srgbClr val="BBBBFF"/>
            </a:solidFill>
            <a:prstDash val="solid"/>
          </a:ln>
        </p:spPr>
        <p:txBody>
          <a:bodyPr/>
          <a:lstStyle/>
          <a:p>
            <a:pPr marL="342900" indent="-342900">
              <a:buSzPct val="100000"/>
              <a:buFontTx/>
              <a:buChar char="•"/>
            </a:pPr>
            <a:r>
              <a:rPr lang="en-US" sz="1800" b="1" dirty="0">
                <a:solidFill>
                  <a:srgbClr val="2233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Lifestyle Analysis (LSA)</a:t>
            </a:r>
            <a:endParaRPr lang="en-US" sz="1800" dirty="0"/>
          </a:p>
          <a:p>
            <a:pPr>
              <a:buSzPct val="100000"/>
            </a:pPr>
            <a:endParaRPr lang="en-US" sz="1800" dirty="0">
              <a:solidFill>
                <a:srgbClr val="222222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dirty="0">
              <a:solidFill>
                <a:srgbClr val="222222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user inputs: BMI, Physical Activity (</a:t>
            </a: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hrs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wk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), Sleep Duration, Dietary Quality (0-10), Stress Level (1-10)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LRI = Σ wⱼ · rⱼ(xⱼ), weights W = [0.25, 0.25, 0.20, 0.15, 0.15] per AHA CVH guidelines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thresholds: Low (LRI &lt; 0.35) | Moderate (0.35–0.65) | High (&gt; 0.65)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Calibrated vs. 500 NHANES patient profiles (Spearman ρ = 0.71, p &lt; 0.001)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CHRS: α·P_DRA + (1−α)·LRI, α = 0.65 (clinical data weighted higher)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CHRS categories: Green (&lt;0.25) | Yellow (0.25–0.50) | Orange (0.50–0.75) | Red (&gt;0.75)</a:t>
            </a:r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62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6A54-6A04-4B11-9878-233D948E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686440" cy="914040"/>
          </a:xfrm>
        </p:spPr>
        <p:txBody>
          <a:bodyPr/>
          <a:lstStyle/>
          <a:p>
            <a:r>
              <a:rPr lang="en-US" sz="3000" dirty="0"/>
              <a:t>  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&amp; Implementation</a:t>
            </a:r>
            <a:endParaRPr lang="en-IN" sz="30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862CFD8-2FA9-4714-86F1-7B6121F44071}"/>
              </a:ext>
            </a:extLst>
          </p:cNvPr>
          <p:cNvSpPr/>
          <p:nvPr/>
        </p:nvSpPr>
        <p:spPr>
          <a:xfrm>
            <a:off x="91080" y="914040"/>
            <a:ext cx="8595360" cy="1256136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 — Data Sources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Cleveland Dataset (303 patients)  |  NHANES Lifestyle Reference Distributions  |  Live User Inputs</a:t>
            </a:r>
            <a:endParaRPr lang="en-US" sz="1800" dirty="0"/>
          </a:p>
          <a:p>
            <a:pPr algn="just"/>
            <a:r>
              <a:rPr lang="en-IN" dirty="0"/>
              <a:t> 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CA8742AE-11E8-4503-9CF5-C5F87B695728}"/>
              </a:ext>
            </a:extLst>
          </p:cNvPr>
          <p:cNvSpPr/>
          <p:nvPr/>
        </p:nvSpPr>
        <p:spPr>
          <a:xfrm>
            <a:off x="91080" y="2297832"/>
            <a:ext cx="8595360" cy="1131168"/>
          </a:xfrm>
          <a:prstGeom prst="rect">
            <a:avLst/>
          </a:prstGeom>
          <a:solidFill>
            <a:srgbClr val="B03020"/>
          </a:solidFill>
          <a:ln w="12700">
            <a:solidFill>
              <a:srgbClr val="B03020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2 — Preprocessing &amp; Models</a:t>
            </a:r>
            <a:endParaRPr lang="en-US" sz="1200" dirty="0"/>
          </a:p>
          <a:p>
            <a:pPr algn="just"/>
            <a:endParaRPr lang="en-IN" dirty="0"/>
          </a:p>
          <a:p>
            <a:pPr algn="just"/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Imputation → One-Hot Encoding → 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StandardScaler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SMOTE  |  Serialized RF / SVM-RBF / LR  (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joblib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gzip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800" dirty="0"/>
          </a:p>
          <a:p>
            <a:pPr algn="just"/>
            <a:endParaRPr lang="en-IN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A40CA2FC-A510-4387-950B-51BC50864912}"/>
              </a:ext>
            </a:extLst>
          </p:cNvPr>
          <p:cNvSpPr/>
          <p:nvPr/>
        </p:nvSpPr>
        <p:spPr>
          <a:xfrm>
            <a:off x="91080" y="3556656"/>
            <a:ext cx="8595360" cy="1027536"/>
          </a:xfrm>
          <a:prstGeom prst="rect">
            <a:avLst/>
          </a:prstGeom>
          <a:solidFill>
            <a:srgbClr val="1A6040"/>
          </a:solidFill>
          <a:ln w="12700">
            <a:solidFill>
              <a:srgbClr val="1A6040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3 — Inference Engine</a:t>
            </a:r>
            <a:endParaRPr lang="en-US" sz="1200" dirty="0"/>
          </a:p>
          <a:p>
            <a:pPr algn="just"/>
            <a:endParaRPr lang="en-IN" dirty="0"/>
          </a:p>
          <a:p>
            <a:pPr algn="just"/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DRA: 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pipeline.pkl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Classifier → P(y) + SHAP + CI  |  LSA: LRI Computation → Risk Tier + Recommendations</a:t>
            </a:r>
            <a:endParaRPr lang="en-US" sz="1800" dirty="0"/>
          </a:p>
          <a:p>
            <a:pPr algn="just"/>
            <a:endParaRPr lang="en-IN" dirty="0"/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ACCBBB36-66B1-455F-AFFE-88D23FFDA0F8}"/>
              </a:ext>
            </a:extLst>
          </p:cNvPr>
          <p:cNvSpPr/>
          <p:nvPr/>
        </p:nvSpPr>
        <p:spPr>
          <a:xfrm>
            <a:off x="45540" y="4711848"/>
            <a:ext cx="8595360" cy="1027536"/>
          </a:xfrm>
          <a:prstGeom prst="rect">
            <a:avLst/>
          </a:prstGeom>
          <a:solidFill>
            <a:srgbClr val="5B2C8A"/>
          </a:solidFill>
          <a:ln w="12700">
            <a:solidFill>
              <a:srgbClr val="5B2C8A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4 — Presentation</a:t>
            </a:r>
            <a:endParaRPr lang="en-US" sz="1200" dirty="0"/>
          </a:p>
          <a:p>
            <a:pPr algn="just"/>
            <a:endParaRPr lang="en-IN" dirty="0"/>
          </a:p>
          <a:p>
            <a:pPr algn="just"/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Dashboard  |  CHRS = 0.65·P_DRA + 0.35·LRI  |  Green/Yellow/Orange/Red  |  Downloadable Report</a:t>
            </a:r>
            <a:endParaRPr lang="en-US" sz="1800" dirty="0"/>
          </a:p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 Input  →  </a:t>
            </a:r>
            <a:r>
              <a:rPr lang="en-IN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UI  →  Module Router  →  DRA (Clinical Pipeline)  →  LSA (LRI)  →  Integrated CHRS Dashboard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39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C6C8-BFF2-4FBD-9DE6-4C88F8C1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         </a:t>
            </a: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188C1-FCDC-4F22-9A2D-C00799D37839}"/>
              </a:ext>
            </a:extLst>
          </p:cNvPr>
          <p:cNvSpPr txBox="1"/>
          <p:nvPr/>
        </p:nvSpPr>
        <p:spPr>
          <a:xfrm>
            <a:off x="179110" y="914040"/>
            <a:ext cx="8462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 Module — 5-Fold Stratified CV Performance</a:t>
            </a:r>
            <a:endParaRPr lang="en-US" sz="1800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62A4D18-1498-4D80-ADC5-F3A947598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37360"/>
              </p:ext>
            </p:extLst>
          </p:nvPr>
        </p:nvGraphicFramePr>
        <p:xfrm>
          <a:off x="179110" y="1375705"/>
          <a:ext cx="8586940" cy="2595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46735">
                  <a:extLst>
                    <a:ext uri="{9D8B030D-6E8A-4147-A177-3AD203B41FA5}">
                      <a16:colId xmlns:a16="http://schemas.microsoft.com/office/drawing/2014/main" val="3804117605"/>
                    </a:ext>
                  </a:extLst>
                </a:gridCol>
                <a:gridCol w="2146735">
                  <a:extLst>
                    <a:ext uri="{9D8B030D-6E8A-4147-A177-3AD203B41FA5}">
                      <a16:colId xmlns:a16="http://schemas.microsoft.com/office/drawing/2014/main" val="2110787477"/>
                    </a:ext>
                  </a:extLst>
                </a:gridCol>
                <a:gridCol w="2146735">
                  <a:extLst>
                    <a:ext uri="{9D8B030D-6E8A-4147-A177-3AD203B41FA5}">
                      <a16:colId xmlns:a16="http://schemas.microsoft.com/office/drawing/2014/main" val="3893565560"/>
                    </a:ext>
                  </a:extLst>
                </a:gridCol>
                <a:gridCol w="2146735">
                  <a:extLst>
                    <a:ext uri="{9D8B030D-6E8A-4147-A177-3AD203B41FA5}">
                      <a16:colId xmlns:a16="http://schemas.microsoft.com/office/drawing/2014/main" val="15151480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 (RBF Kernel)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★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91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84.5 ± 2.1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88.3 ± 1.8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91.8 ± 1.4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8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83.7 ± 2.4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87.9 ± 2.0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91.2 ± 1.6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82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86.2 ± 2.8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89.1 ± 2.3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92.4 ± 1.9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8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84.9 ± 1.9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88.5 ± 1.7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91.8 ± 1.5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68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AUC-ROC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0.956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47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MCC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0.689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0.764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4138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84F428-C132-4108-92B9-262B2D0862F8}"/>
              </a:ext>
            </a:extLst>
          </p:cNvPr>
          <p:cNvSpPr txBox="1"/>
          <p:nvPr/>
        </p:nvSpPr>
        <p:spPr>
          <a:xfrm>
            <a:off x="179110" y="4352544"/>
            <a:ext cx="87857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is the top performer across all metrics; 93.1% sensitivity and 90.6% specificity at threshold t = 0.48.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DRA features: Max Heart Rate (0.142), Chest Pain Type (0.138), Vessel Count (0.131), ST Depression (0.124).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LSA calibration: Spearman ρ = 0.71 vs. 5-year NHANES CVD event rates; Bland-Altman bias = −0.03.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CHRS vs physician ratings: Cohen's κ = 0.74 (substantial agreement) on 50 de-identified partner records.</a:t>
            </a:r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75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4AEC-34FF-472B-A355-95021233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120384" cy="914040"/>
          </a:xfrm>
        </p:spPr>
        <p:txBody>
          <a:bodyPr/>
          <a:lstStyle/>
          <a:p>
            <a:r>
              <a:rPr lang="en-US" sz="3000" dirty="0"/>
              <a:t>    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&amp; Clinical Significance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68AF4-1199-4906-91D9-6480F8EEDE7F}"/>
              </a:ext>
            </a:extLst>
          </p:cNvPr>
          <p:cNvSpPr txBox="1"/>
          <p:nvPr/>
        </p:nvSpPr>
        <p:spPr>
          <a:xfrm>
            <a:off x="249936" y="914040"/>
            <a:ext cx="8644128" cy="558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advantage: A patient with borderline DRA probability (0.45) but high LRI (0.72) yields CHRS = 0.55 — flagging needed behavioral intervention that a biomarker-only system would miss entirely.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alignment: Three highest-ranked SHAP features (max HR, chest pain type, vessel count) match established coronary disease predictors, validating the model beyond training data.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SHAP addresses the 'black-box' barrier and aligns with FDA guidance on AI-based medical software.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</a:t>
            </a:r>
            <a:endParaRPr lang="en-US" sz="1600" dirty="0"/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Cleveland dataset: 303 patients, single institution, 1989 — generalizability to modern and diverse populations is unconfirmed.</a:t>
            </a:r>
            <a:endParaRPr lang="en-US" sz="1600" dirty="0"/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Lifestyle inputs are self-reported — subject to recall and social-desirability bias.</a:t>
            </a:r>
            <a:endParaRPr lang="en-US" sz="1600" dirty="0"/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CHRS validation on 50 records is pilot evidence only — insufficient for regulatory or widespread clinical deployment.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system is a decision-support tool — it is designed to complement, not replace, physician judgment.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0226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3A48-D170-43FB-887F-5A4007A7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           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Enhancements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EFD15-8C8A-44AD-B58B-07DA41A48311}"/>
              </a:ext>
            </a:extLst>
          </p:cNvPr>
          <p:cNvSpPr txBox="1"/>
          <p:nvPr/>
        </p:nvSpPr>
        <p:spPr>
          <a:xfrm>
            <a:off x="182880" y="1096560"/>
            <a:ext cx="87782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Wearable Device Integration</a:t>
            </a:r>
            <a:r>
              <a:rPr lang="en-US" b="1" dirty="0"/>
              <a:t>: </a:t>
            </a:r>
            <a:r>
              <a:rPr lang="en-US" sz="1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Bluetooth data (HR, </a:t>
            </a:r>
            <a:r>
              <a:rPr lang="en-US" sz="1800" dirty="0" err="1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</a:t>
            </a:r>
            <a:r>
              <a:rPr lang="en-US" sz="1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₂, steps) replaces self-reported lifestyle inputs for objective longitudinal tracking.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 </a:t>
            </a:r>
            <a:r>
              <a:rPr lang="en-US" sz="1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across hospital systems without sharing raw patient data — expanding demographic coverage while preserving privacy.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Fusion: </a:t>
            </a:r>
            <a:r>
              <a:rPr lang="en-US" sz="1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across hospital systems without sharing raw patient data — expanding demographic coverage while preserving privacy.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EHR Integration via HL7 FHIR R4</a:t>
            </a:r>
            <a:r>
              <a:rPr lang="en-IN" sz="180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: </a:t>
            </a:r>
            <a:r>
              <a:rPr lang="en-US" sz="1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patient data ingestion and embedding the framework directly into existing clinical workflows.</a:t>
            </a:r>
            <a:endParaRPr lang="en-US" dirty="0">
              <a:solidFill>
                <a:srgbClr val="5555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555555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Deployment (TF Lite)</a:t>
            </a: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On-device Random Forest inference for offline risk assessment in rural and low-connectivity settings.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3161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24C9-B52A-45FC-A49B-EF559CC2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Conclusion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F7BE4-918F-49EE-8175-DE91816ECDA7}"/>
              </a:ext>
            </a:extLst>
          </p:cNvPr>
          <p:cNvSpPr txBox="1"/>
          <p:nvPr/>
        </p:nvSpPr>
        <p:spPr>
          <a:xfrm>
            <a:off x="256032" y="1011936"/>
            <a:ext cx="8400288" cy="5443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a Multi-Modal AI Health Intelligence Framework combining DRA (clinical biomarkers) and LSA (behavioral inputs) into a single clinical decision-support system.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Forest: 91.8% accuracy, AUC-ROC = 0.956, MCC = 0.836 — best reported on the Cleveland dataset.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LSA: Spearman ρ = 0.71 against NHANES event rates; CHRS agreement with physicians: Cohen's κ = 0.74.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Production-grade: &lt; 60 </a:t>
            </a: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inference, </a:t>
            </a: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deployment, SHAP </a:t>
            </a:r>
            <a:r>
              <a:rPr lang="en-US" sz="18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classifier switching, exportable reports.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impactful in primary care settings — rapid, integrated risk screening at the point of care.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 augments clinical judgment, not replaces it — consistent with FDA guidelines on AI-based medical software.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879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34735</TotalTime>
  <Words>1170</Words>
  <Application>Microsoft Office PowerPoint</Application>
  <PresentationFormat>On-screen Show (4:3)</PresentationFormat>
  <Paragraphs>133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         Methodology</vt:lpstr>
      <vt:lpstr>  System Architecture &amp; Implementation</vt:lpstr>
      <vt:lpstr>         Experimental Results</vt:lpstr>
      <vt:lpstr>    Discussion &amp; Clinical Significance</vt:lpstr>
      <vt:lpstr>           Future Enhancements</vt:lpstr>
      <vt:lpstr>      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Risham Goyal</cp:lastModifiedBy>
  <cp:revision>2305</cp:revision>
  <dcterms:created xsi:type="dcterms:W3CDTF">2010-04-09T07:36:15Z</dcterms:created>
  <dcterms:modified xsi:type="dcterms:W3CDTF">2026-05-03T10:33:18Z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